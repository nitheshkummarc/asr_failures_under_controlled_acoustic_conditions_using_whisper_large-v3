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project. Whisper large-v3 under calibrated single-variable degradations, with a control condition that separates the two masking mechanisms.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between the clean number and field behaviour is the motivation.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Energetic vs informational is the distinction the whole project is built to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2 is the one this project closes with the SSN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2,703 utterances available; 150 selected under a seeded stratified draw.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methodological contribution. Without SSN the informational claim cannot be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Cafe and SSN share a spectrum to |dSII| = 0.0005, so the gap between them cannot be energetic.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48550/arXiv.2212.04356" TargetMode="External"/><Relationship Id="rId2" Type="http://schemas.openxmlformats.org/officeDocument/2006/relationships/hyperlink" Target="https://doi.org/10.1109/ICASSP.2015.7178964" TargetMode="External"/><Relationship Id="rId3" Type="http://schemas.openxmlformats.org/officeDocument/2006/relationships/hyperlink" Target="https://doi.org/10.48550/arXiv.1706.03762" TargetMode="External"/><Relationship Id="rId4" Type="http://schemas.openxmlformats.org/officeDocument/2006/relationships/hyperlink" Target="https://doi.org/10.1109/ICASSP.2016.7472621" TargetMode="External"/><Relationship Id="rId5" Type="http://schemas.openxmlformats.org/officeDocument/2006/relationships/hyperlink" Target="https://doi.org/10.21437/Interspeech.2020-3015" TargetMode="External"/><Relationship Id="rId6" Type="http://schemas.openxmlformats.org/officeDocument/2006/relationships/hyperlink" Target="https://doi.org/10.21437/Interspeech.2023-2193" TargetMode="External"/><Relationship Id="rId7" Type="http://schemas.openxmlformats.org/officeDocument/2006/relationships/hyperlink" Target="https://doi.org/10.48550/arXiv.2403.07937" TargetMode="External"/><Relationship Id="rId8" Type="http://schemas.openxmlformats.org/officeDocument/2006/relationships/hyperlink" Target="https://doi.org/10.48550/arXiv.2306.13734" TargetMode="External"/><Relationship Id="rId9" Type="http://schemas.openxmlformats.org/officeDocument/2006/relationships/hyperlink" Target="https://doi.org/10.1109/ASRU.2015.7404837" TargetMode="External"/><Relationship Id="rId10" Type="http://schemas.openxmlformats.org/officeDocument/2006/relationships/hyperlink" Target="https://doi.org/10.21437/Interspeech.2019-2680" TargetMode="Externa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21/1.1345696" TargetMode="External"/><Relationship Id="rId2" Type="http://schemas.openxmlformats.org/officeDocument/2006/relationships/hyperlink" Target="https://doi.org/10.1121/1.2166600" TargetMode="External"/><Relationship Id="rId3" Type="http://schemas.openxmlformats.org/officeDocument/2006/relationships/hyperlink" Target="https://doi.org/10.1121/1.400247" TargetMode="External"/><Relationship Id="rId4" Type="http://schemas.openxmlformats.org/officeDocument/2006/relationships/hyperlink" Target="https://doi.org/10.1016/0167-6393(93)90095-3" TargetMode="External"/><Relationship Id="rId5" Type="http://schemas.openxmlformats.org/officeDocument/2006/relationships/hyperlink" Target="https://doi.org/10.48550/arXiv.1510.08484" TargetMode="External"/><Relationship Id="rId6" Type="http://schemas.openxmlformats.org/officeDocument/2006/relationships/hyperlink" Target="https://doi.org/10.1109/TASSP.1980.1163420" TargetMode="External"/><Relationship Id="rId7" Type="http://schemas.openxmlformats.org/officeDocument/2006/relationships/hyperlink" Target="https://doi.org/10.1109/89.759041" TargetMode="External"/><Relationship Id="rId8" Type="http://schemas.openxmlformats.org/officeDocument/2006/relationships/hyperlink" Target="https://doi.org/10.1109/ICASSP.2017.7953152" TargetMode="External"/><Relationship Id="rId9" Type="http://schemas.openxmlformats.org/officeDocument/2006/relationships/hyperlink" Target="https://doi.org/10.48550/arXiv.2006.11477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57276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ASR Failures under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21284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Acoustic Conditions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0175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energetic from informational masking in Whisper large-v3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950208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Jainithissh S — CB.SC.U4AIE23129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Prakash S — CB.SC.U4AIE232138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Nitheshkummar C — CB.SC.U4AIE23155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Akhilesh Kumar S — CB.SC.U4AIE232170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395020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B5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Dr. Iswarya K V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22AIE450 — Speech Processing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AI, Amrita Vishwa Vidyapeetham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benchmarks do not predict field reliability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89888"/>
            <a:ext cx="6492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now sits in medical, legal and emergency transcription paths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large-v3 reports under 4% WER on clean read speech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deployments degrade unpredictably against that number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benchmarks change several acoustic factors at once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of failure therefore cannot be attributed to any one factor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99248" y="15727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3.44%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436608" y="17922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baseline WER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98080" y="2779776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99248" y="28895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14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9.39%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9436608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babble at 5 dB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0" y="4096512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99248" y="4206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11.19%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436608" y="44256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at 1.5x rate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and Key Terminology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13716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16733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 + D + I) / N, summed over the corpus before dividing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368296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23134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261518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log10 (RMS signal / RMS noise), set on broadband RMS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310128"/>
            <a:ext cx="384048" cy="384048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32552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Energetic masking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" y="35570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overlaps speech in frequency and swamps 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251960"/>
            <a:ext cx="384048" cy="38404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41970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masking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44988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Masker is audible yet still competes for interpretation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5193792"/>
            <a:ext cx="384048" cy="384048"/>
          </a:xfrm>
          <a:prstGeom prst="ellipse">
            <a:avLst/>
          </a:prstGeom>
          <a:solidFill>
            <a:srgbClr val="4A5C75"/>
          </a:solidFill>
          <a:ln w="12700">
            <a:solidFill>
              <a:srgbClr val="4A5C7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" y="51389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/ STE / ZCR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" y="5440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features used here as distortion measures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052560" y="1371600"/>
            <a:ext cx="2560320" cy="1920240"/>
          </a:xfrm>
          <a:prstGeom prst="roundRect">
            <a:avLst>
              <a:gd name="adj" fmla="val 2857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17152" y="1536192"/>
            <a:ext cx="223113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masking types are the axis this project turns 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I — Models and Corpora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98448"/>
          <a:ext cx="11027664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965960"/>
                <a:gridCol w="2743200"/>
                <a:gridCol w="2971800"/>
                <a:gridCol w="293522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established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for 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Radford 2022, Whisper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Encoder-decoder, 680k h weak supervision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Near-human zero-shot ASR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benchmarks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Panayotov 2015, LibriSpeech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h read English at 16 kHz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facto English ASR benchmark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noisy conditions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Vaswani 2017, Transformer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Self-attention sequence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behind Whisper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acoustic robustness study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 2016, Listen Attend Spell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encoder-decoder ASR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ASR without alignment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Small-scale, clean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Gulati 2020, Conformer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Convolution-augmented transformer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accuracy per 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Robustness not decomposed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206240"/>
            <a:ext cx="11027664" cy="841248"/>
          </a:xfrm>
          <a:prstGeom prst="roundRect">
            <a:avLst>
              <a:gd name="adj" fmla="val 6522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" y="4434840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53312" y="44622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above is benchmarked on clean read speech; none reports WER against a calibrated acoustic variable.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II — Robustness and Augmentation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98448"/>
          <a:ext cx="11027664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965960"/>
                <a:gridCol w="2743200"/>
                <a:gridCol w="2971800"/>
                <a:gridCol w="293522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established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for 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Gong 2023, Whisper-AT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Probed noise encoding in Whisper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Whisper encodes noise type, not invariant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WER per noise at fixed SNR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Shah 2024, Speech Robust Bench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 perturbation scenarios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robustness scoring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Aggregate, not single-variable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Cornell 2023, CHiME-7 DASR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Multi-device distant recognition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 far-field difficulty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Confounds many factors at once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[9]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Barker 2015, CHiME-3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and simulated noisy speech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noisy ASR task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scenes, uncalibrated SNR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2019, SpecAugment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Masking on the spectrogram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 improves ASR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method, not diagnosis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206240"/>
            <a:ext cx="11027664" cy="841248"/>
          </a:xfrm>
          <a:prstGeom prst="roundRect">
            <a:avLst>
              <a:gd name="adj" fmla="val 6522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" y="4434840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53312" y="44622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work measures how much accuracy drops, not which acoustic mechanism caused the drop.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III — Masking and Signal Sources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98448"/>
          <a:ext cx="11027664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965960"/>
                <a:gridCol w="2743200"/>
                <a:gridCol w="2971800"/>
                <a:gridCol w="293522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established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for 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Brungart 2001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competing talkers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Separated energetic from informational masking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listeners, not ASR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Cooke 2006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Glimpsing model of speech in noise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Listeners exploit spectro-temporal dips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tested on a neural ASR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Festen 1990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Fluctuating noise vs interfering speech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Modulated maskers behave differently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speech-reception thresholds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Varga 1993, NOISEX-92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recorded noise corpus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Reusable noise conditions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recordings, no control masker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[15]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Snyder 2015, MUSAN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Music, speech and noise corpus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Widely used noise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spectrum-matched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206240"/>
            <a:ext cx="11027664" cy="841248"/>
          </a:xfrm>
          <a:prstGeom prst="roundRect">
            <a:avLst>
              <a:gd name="adj" fmla="val 6522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" y="4434840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53312" y="44622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Psychoacoustics separated the two masking types in human listeners; that control has not been carried over to ASR.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Identified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239512" cy="1115568"/>
          </a:xfrm>
          <a:prstGeom prst="roundRect">
            <a:avLst>
              <a:gd name="adj" fmla="val 4918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54480"/>
            <a:ext cx="384048" cy="38404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361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single-variable isolation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470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vary several acoustic factors together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389888"/>
            <a:ext cx="5239512" cy="1115568"/>
          </a:xfrm>
          <a:prstGeom prst="roundRect">
            <a:avLst>
              <a:gd name="adj" fmla="val 4918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554480"/>
            <a:ext cx="384048" cy="384048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15361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spectrum-matched control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68312" y="18470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Babble is compared against white noise, which differs in two ways at once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2688336"/>
            <a:ext cx="5239512" cy="1115568"/>
          </a:xfrm>
          <a:prstGeom prst="roundRect">
            <a:avLst>
              <a:gd name="adj" fmla="val 4918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852928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834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and temporal axes thin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14553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and speaking rate rarely studied under calibrated control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2688336"/>
            <a:ext cx="5239512" cy="1115568"/>
          </a:xfrm>
          <a:prstGeom prst="roundRect">
            <a:avLst>
              <a:gd name="adj" fmla="val 4918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2852928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2834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deviation unlinked to WER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68312" y="314553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Distortion is reported without testing whether it predicts failure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986784"/>
            <a:ext cx="5239512" cy="1115568"/>
          </a:xfrm>
          <a:prstGeom prst="roundRect">
            <a:avLst>
              <a:gd name="adj" fmla="val 4918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151376"/>
            <a:ext cx="384048" cy="384048"/>
          </a:xfrm>
          <a:prstGeom prst="ellipse">
            <a:avLst/>
          </a:prstGeom>
          <a:solidFill>
            <a:srgbClr val="4A5C75"/>
          </a:solidFill>
          <a:ln w="12700">
            <a:solidFill>
              <a:srgbClr val="4A5C7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1330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treated anecdotally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444398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Trailing-phrase insertions are not measured per condition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538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pipeline that varies exactly one acoustic factor at a time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23113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Whisper large-v3 WER across 22 calibrated conditions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2971800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0083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spectrum-matched control that isolates informational masking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3749040"/>
            <a:ext cx="384048" cy="384048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856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MFCC, STE and ZCR deviation predicts recognition failure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4526280"/>
            <a:ext cx="384048" cy="384048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56285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end-of-audio hallucination as a per-condition confound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5303520"/>
            <a:ext cx="384048" cy="384048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3400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degradation from the audio rather than trusting the code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LibriSpeech dev-clean, stratified by speaker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5943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corpus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LibriSpeech dev-clean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Utterances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150, stratified across 40 speakers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words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3,056 (mean 20.4 per utterance)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16,000 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depth / channels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 PCM / mono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3.10 - 14.93 s (mean 7.22 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audio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 minutes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seed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 reproducible end to 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12280" y="1371600"/>
            <a:ext cx="4800600" cy="3291840"/>
          </a:xfrm>
          <a:prstGeom prst="roundRect">
            <a:avLst>
              <a:gd name="adj" fmla="val 1667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22592" y="153619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corpus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022592" y="192024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read speech isolates the degradation we add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transcripts are exact, not forced-aligned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stratification stops one voice dominating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3-15 s clips fit Whisper's 30 s window without chunking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Conditions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conditions x 150 utterances + 150 clean = 3,450 trials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755648"/>
            <a:ext cx="365760" cy="365760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6093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Additive noise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38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White, pink, cafe babble, SSN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17739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20 / 15 / 10 / 5 dB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17739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 files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60320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834640"/>
            <a:ext cx="365760" cy="36576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26883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Channel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Telephonic bandpass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28529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300-3400 Hz, Butterworth order 4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692640" y="28529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files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639312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3913632"/>
            <a:ext cx="365760" cy="3657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3767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Temporal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096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Time-scale modification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39319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1.2x and 1.5x (faster)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39319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files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718304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" y="4992624"/>
            <a:ext cx="365760" cy="3657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80160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Temporal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51755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insertion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50109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s start, 1.0 s and 2.0 s mid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50109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files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is a control, not a fifth noise — see the methodology slide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stages, checkpointed, seeded end to end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42646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2225">
            <a:solidFill>
              <a:srgbClr val="1F8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6424" y="1609344"/>
            <a:ext cx="347472" cy="347472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6424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167128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025396" y="2331720"/>
            <a:ext cx="137160" cy="109728"/>
          </a:xfrm>
          <a:prstGeom prst="rightArrow">
            <a:avLst/>
          </a:prstGeom>
          <a:solidFill>
            <a:srgbClr val="9AA7B4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7128" y="1783080"/>
            <a:ext cx="142646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2225">
            <a:solidFill>
              <a:srgbClr val="1F8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06624" y="1609344"/>
            <a:ext cx="347472" cy="347472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06624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221992" y="2167128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25596" y="2331720"/>
            <a:ext cx="137160" cy="109728"/>
          </a:xfrm>
          <a:prstGeom prst="rightArrow">
            <a:avLst/>
          </a:prstGeom>
          <a:solidFill>
            <a:srgbClr val="9AA7B4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67328" y="1783080"/>
            <a:ext cx="142646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2225">
            <a:solidFill>
              <a:srgbClr val="E08A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1609344"/>
            <a:ext cx="347472" cy="347472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06824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22192" y="2167128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+ ASR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225796" y="2331720"/>
            <a:ext cx="137160" cy="109728"/>
          </a:xfrm>
          <a:prstGeom prst="rightArrow">
            <a:avLst/>
          </a:prstGeom>
          <a:solidFill>
            <a:srgbClr val="9AA7B4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67528" y="1783080"/>
            <a:ext cx="142646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2225">
            <a:solidFill>
              <a:srgbClr val="E08A1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7024" y="1609344"/>
            <a:ext cx="347472" cy="347472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07024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22392" y="2167128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 / 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 + ASR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25996" y="2331720"/>
            <a:ext cx="137160" cy="109728"/>
          </a:xfrm>
          <a:prstGeom prst="rightArrow">
            <a:avLst/>
          </a:prstGeom>
          <a:solidFill>
            <a:srgbClr val="9AA7B4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67728" y="1783080"/>
            <a:ext cx="142646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2225">
            <a:solidFill>
              <a:srgbClr val="D149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07224" y="1609344"/>
            <a:ext cx="347472" cy="347472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07224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22592" y="2167128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426196" y="2331720"/>
            <a:ext cx="137160" cy="109728"/>
          </a:xfrm>
          <a:prstGeom prst="rightArrow">
            <a:avLst/>
          </a:prstGeom>
          <a:solidFill>
            <a:srgbClr val="9AA7B4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67928" y="1783080"/>
            <a:ext cx="142646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2225">
            <a:solidFill>
              <a:srgbClr val="2E8B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07424" y="1609344"/>
            <a:ext cx="347472" cy="34747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07424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622792" y="2167128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0026396" y="2331720"/>
            <a:ext cx="137160" cy="109728"/>
          </a:xfrm>
          <a:prstGeom prst="rightArrow">
            <a:avLst/>
          </a:prstGeom>
          <a:solidFill>
            <a:srgbClr val="9AA7B4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68128" y="1783080"/>
            <a:ext cx="142646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2225">
            <a:solidFill>
              <a:srgbClr val="2E8B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07624" y="1609344"/>
            <a:ext cx="347472" cy="34747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707624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222992" y="2167128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plots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66928" y="3529584"/>
            <a:ext cx="11027664" cy="731520"/>
          </a:xfrm>
          <a:prstGeom prst="roundRect">
            <a:avLst>
              <a:gd name="adj" fmla="val 75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86384" y="37307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2944368" y="373075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large-v3, INT8 on CUDA, beam 5, condition_on_previous_text off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66928" y="4389120"/>
            <a:ext cx="11027664" cy="731520"/>
          </a:xfrm>
          <a:prstGeom prst="roundRect">
            <a:avLst>
              <a:gd name="adj" fmla="val 75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6384" y="45902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2944368" y="45902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RNG streams; noise drawn before the resume check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66928" y="5248656"/>
            <a:ext cx="11027664" cy="731520"/>
          </a:xfrm>
          <a:prstGeom prst="roundRect">
            <a:avLst>
              <a:gd name="adj" fmla="val 75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86384" y="544982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2944368" y="544982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3,750 checks re-derive SNR, bandwidth and duration from the written audio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Degradation Core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 numpy and scipy so every step is auditable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5361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mixing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19202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2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RMS(clean) / (RMS(noise) x 10^(SNR/20))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2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degraded = clean + k x noise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2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rescale the whole mixture if it would clip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46520" y="1371600"/>
            <a:ext cx="5166360" cy="2148840"/>
          </a:xfrm>
          <a:prstGeom prst="roundRect">
            <a:avLst>
              <a:gd name="adj" fmla="val 2553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65976" y="15361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generation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65976" y="1938528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— i.i.d. Gaussian, flat spectrum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— 1/sqrt(f) filter applied in the FFT domain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— 15 talkers from a disjoint speaker pool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— cafe babble with randomised phase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67328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7673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Zero-phase filtering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78561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filtfilt keeps the telephonic band-limit free of phase distortion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553712"/>
            <a:ext cx="384048" cy="384048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5537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phase vocoder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7200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Time-scale change on scipy STFT; pitch preserved, librosa avoided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340096"/>
            <a:ext cx="384048" cy="38404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3400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babble pool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535838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2,553 utterances, none of them in the 150-utterance test set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 That Separates the Two Mechanisms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babble differs from white noise in two ways at once — spectrum and linguistic content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3520440" cy="1572768"/>
          </a:xfrm>
          <a:prstGeom prst="roundRect">
            <a:avLst>
              <a:gd name="adj" fmla="val 3488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8836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noise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spectrum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speech content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4256" y="1719072"/>
            <a:ext cx="3520440" cy="1572768"/>
          </a:xfrm>
          <a:prstGeom prst="roundRect">
            <a:avLst>
              <a:gd name="adj" fmla="val 3488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35424" y="18836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(control)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35424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spectrum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speech content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01584" y="1719072"/>
            <a:ext cx="3520440" cy="1572768"/>
          </a:xfrm>
          <a:prstGeom prst="roundRect">
            <a:avLst>
              <a:gd name="adj" fmla="val 3488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2752" y="18836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babble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02752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spectrum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content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456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is the cafe babble with its phase spectrum randomised — identical magnitude spectrum, no structure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3968496"/>
            <a:ext cx="11027664" cy="804672"/>
          </a:xfrm>
          <a:prstGeom prst="roundRect">
            <a:avLst>
              <a:gd name="adj" fmla="val 6818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41879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SSN  -  white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41879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energetic masking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4206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moved into the speech bands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901184"/>
            <a:ext cx="11027664" cy="804672"/>
          </a:xfrm>
          <a:prstGeom prst="roundRect">
            <a:avLst>
              <a:gd name="adj" fmla="val 6818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cafe  -  SSN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masking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51389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spectrum, linguistic content added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9253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check: |SII(cafe) - SII(SSN)| = 0.0005, so the two are spectrally matched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Word Error Rate by Condition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Corpus-level WER: total errors over total reference words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6583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noise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Pink noise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SSN (control)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Cafe babble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426464"/>
          <a:ext cx="4251960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B / C condition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baseline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Telephonic 300-3400 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Silence 0.5 s at start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Silence 1.0 s mid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Silence 2.0 s mid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Speaking rate 1.2x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Speaking rate 1.5x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08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66928" y="416052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babble is the worst additive condition at 5 dB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Band-limiting to the telephone band costs nothing measurable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single result adds no noise at all — it is speaking rate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 of 22 conditions separate from clean at 95% confidence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Axis A Degradation Curves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4" name="Image 0" descr="results/plots/summary/degradation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34440"/>
            <a:ext cx="6858000" cy="4087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680" y="1298448"/>
            <a:ext cx="3886200" cy="3931920"/>
          </a:xfrm>
          <a:prstGeom prst="roundRect">
            <a:avLst>
              <a:gd name="adj" fmla="val 1412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27848" y="14813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curves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27848" y="1883664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increases left to right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starts below the baseline and ends worst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stays flattest across the range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tracks white but consistently below it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cafe curve is non-linear, not a gradient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Separating the Two Mechanisms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result of the project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5" name="Image 0" descr="results/plots/summary/masking_de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98448"/>
            <a:ext cx="7680960" cy="3255264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58200" y="1371600"/>
          <a:ext cx="3154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Energetic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458200" y="307238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points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4736592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Energetic term is negative — speech-shaped energy is less harmful than flat energy at the same SNR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masking is zero at 20, 15 and 10 dB, then +4.19 points at 5 dB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over 600 paired cells: energetic -0.59 (p = 0.0008), informational +1.01 (p = 0.00002)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Axis B (Channel) and Axis C (Temporal)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4" name="Image 0" descr="results/plots/summary/degradation_curves_axis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98448"/>
            <a:ext cx="7406640" cy="31455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298448"/>
            <a:ext cx="3429000" cy="3145536"/>
          </a:xfrm>
          <a:prstGeom prst="roundRect">
            <a:avLst>
              <a:gd name="adj" fmla="val 1744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85048" y="14630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 — channel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385048" y="1828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Telephonic 3.27% vs 3.44% clean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measurable cost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information sits inside 300-3400 Hz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385048" y="29626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C — temporal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385048" y="332841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1.5x reaches 11.19%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at the start hurts, mid-utterance does not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noise added in either case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681728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single degradation in the study involves no added noise and no spectral change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points at decoder alignment rather than the acoustic front end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Error Composition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Substitutions, insertions and deletions as a share of each condition's errors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5" name="Image 0" descr="results/plots/summary/error_distribution_axis_a_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11027664" cy="33284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4846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damage is substitutions and deletions, not insertions — insertion share at 5 dB: white 11%    pink 23%    ssn 8%    cafe 12%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Cafe's insertion share stays near 9-12% at every SNR while white's falls from 27% to 11%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is the only condition with zero trailing hallucination at all four SNR levels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mid-term reading of this plot was the opposite and has been corrected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End-of-Audio Hallucination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condition-dependent confound, not a constant offset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5" name="Image 0" descr="results/plots/summary/hallucination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7315200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1325880"/>
            <a:ext cx="3520440" cy="3703320"/>
          </a:xfrm>
          <a:prstGeom prst="roundRect">
            <a:avLst>
              <a:gd name="adj" fmla="val 1558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93608" y="14904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293608" y="18745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appends "thank you" to quiet endings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 of clean utterances affected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of the baseline's 32 insertions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suppresses it at every SNR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only partly — so it is not purely spectral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93608" y="44439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clean baseline: 3.44% becomes 2.78%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517550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Uncorrected, a mild condition can post a lower WER than clean audio while recognising slightly worse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as a secondary metric only — corpus WER remains the headline number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Does Spectral Distortion Predict Failure?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91640"/>
                <a:gridCol w="1097280"/>
                <a:gridCol w="2423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MFCC 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Telephonic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measurable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5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5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Pink 5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5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SSN 5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5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Cafe 5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additive condition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371600"/>
            <a:ext cx="3931920" cy="2286000"/>
          </a:xfrm>
          <a:prstGeom prst="roundRect">
            <a:avLst>
              <a:gd name="adj" fmla="val 24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82128" y="15361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ordering inverts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882128" y="192024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Telephonic produces 25x cafe's MFCC deviation and costs nothing; cafe barely moves the features and is the most damaging.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84048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Pearson finds nothing: MFCC r = 0.028 (p = 0.163), STE r = 0.008, ZCR r = 0.026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is significant for MFCC (p = 8.6e-05) and STE (p = 1.4e-12) — the link is monotonic, not linear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fixed noise type it is positive: cafe r = 0.206, SSN r = 0.120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noise types it reverses — pooling cancels both, a Simpson's paradox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distance ranks severity inside a masker and misleads across maskers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Rigour and Verification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239512" cy="9144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9110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bootstrap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20370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resamples per contrast, utterance-level pairing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862072"/>
            <a:ext cx="5239512" cy="9144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990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signed-rank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28269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alongside; disagreement is labelled, not resolved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941064"/>
            <a:ext cx="5239512" cy="9144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limit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436168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+/-0.6 points on 3,056 reference words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5020056"/>
            <a:ext cx="5239512" cy="9144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5148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count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544068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 of 22 conditions separate from clean at 95%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131673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55080" y="1783080"/>
            <a:ext cx="5239512" cy="9144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74536" y="19110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verification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574536" y="220370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3,750 checks re-derive SNR, bandwidth and duration from disk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2862072"/>
            <a:ext cx="5239512" cy="9144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74536" y="2990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method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74536" y="328269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does not call the augmentation code it checks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3941064"/>
            <a:ext cx="5239512" cy="9144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74536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574536" y="436168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re-run on different hardware matched to 4 decimal places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5020056"/>
            <a:ext cx="5239512" cy="9144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74536" y="5148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574536" y="544068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tests covering the DSP, metrics and control validity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5836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572768"/>
            <a:ext cx="11027664" cy="987552"/>
          </a:xfrm>
          <a:prstGeom prst="roundRect">
            <a:avLst>
              <a:gd name="adj" fmla="val 5556"/>
            </a:avLst>
          </a:prstGeom>
          <a:solidFill>
            <a:srgbClr val="1C2E4A"/>
          </a:solidFill>
          <a:ln w="9525">
            <a:solidFill>
              <a:srgbClr val="2A3F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874520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71907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 not proportional to spectral distortion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206654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Band-limiting discards most of the spectrum at no cost; babble barely moves the features and is the worst masker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11027664" cy="987552"/>
          </a:xfrm>
          <a:prstGeom prst="roundRect">
            <a:avLst>
              <a:gd name="adj" fmla="val 5556"/>
            </a:avLst>
          </a:prstGeom>
          <a:solidFill>
            <a:srgbClr val="1C2E4A"/>
          </a:solidFill>
          <a:ln w="9525">
            <a:solidFill>
              <a:srgbClr val="2A3F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044952"/>
            <a:ext cx="384048" cy="38404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288950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masking is real and threshold-like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2369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down to 10 dB, then +4.19 points at 5 dB against a spectrum-matched control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913632"/>
            <a:ext cx="11027664" cy="987552"/>
          </a:xfrm>
          <a:prstGeom prst="roundRect">
            <a:avLst>
              <a:gd name="adj" fmla="val 5556"/>
            </a:avLst>
          </a:prstGeom>
          <a:solidFill>
            <a:srgbClr val="1C2E4A"/>
          </a:solidFill>
          <a:ln w="9525">
            <a:solidFill>
              <a:srgbClr val="2A3F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4215384"/>
            <a:ext cx="384048" cy="384048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40599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Concentrating noise in the speech bands helps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44074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Energetic term is negative: speech-shaped noise is milder than flat noise at the same SNR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5084064"/>
            <a:ext cx="11027664" cy="987552"/>
          </a:xfrm>
          <a:prstGeom prst="roundRect">
            <a:avLst>
              <a:gd name="adj" fmla="val 5556"/>
            </a:avLst>
          </a:prstGeom>
          <a:solidFill>
            <a:srgbClr val="1C2E4A"/>
          </a:solidFill>
          <a:ln w="9525">
            <a:solidFill>
              <a:srgbClr val="2A3F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5385816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523036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degradation is temporal, not acoustic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55778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rate 1.5x gives 11.19% on spectrally clean audio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23620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is robust to acoustic perturbation and fragile to structural interference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184708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utterances resolve about +/-0.6 WER points, no finer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761488"/>
            <a:ext cx="384048" cy="38404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277977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cafe minus SSN term includes a small modulation component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694176"/>
            <a:ext cx="384048" cy="38404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" y="371246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talker count only — babble masks most at 2 to 4 talkers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626864"/>
            <a:ext cx="384048" cy="38404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464515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model, single corpus, read speech, INT8 quantised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131673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55080" y="1828800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22008" y="184708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talker count to turn the 5 dB threshold into a curve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55080" y="2761488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22008" y="277977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conditions to test whether the axes add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3694176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22008" y="371246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on spontaneous and accented speech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55080" y="4626864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5508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22008" y="464515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control design to reverberation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(1 of 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style; every entry carries a resolvable DOI link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716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37160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Radford et al., "Robust speech recognition via large-scale weak supervision," arXiv:2212.04356, 2022.</a:t>
            </a:r>
            <a:endParaRPr lang="en-US" sz="1100" dirty="0"/>
          </a:p>
        </p:txBody>
      </p:sp>
      <p:sp>
        <p:nvSpPr>
          <p:cNvPr id="7" name="Text 5">
            <a:hlinkClick r:id="rId1" tooltip=""/>
          </p:cNvPr>
          <p:cNvSpPr txBox="1"/>
          <p:nvPr/>
        </p:nvSpPr>
        <p:spPr>
          <a:xfrm>
            <a:off x="8366760" y="13716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doi.org/10.48550/arXiv.2212.04356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8470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8470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Panayotov et al., "LibriSpeech: An ASR corpus based on public domain audio books," ICASSP, 2015.</a:t>
            </a:r>
            <a:endParaRPr lang="en-US" sz="1100" dirty="0"/>
          </a:p>
        </p:txBody>
      </p:sp>
      <p:sp>
        <p:nvSpPr>
          <p:cNvPr id="10" name="Text 8">
            <a:hlinkClick r:id="rId2" tooltip=""/>
          </p:cNvPr>
          <p:cNvSpPr txBox="1"/>
          <p:nvPr/>
        </p:nvSpPr>
        <p:spPr>
          <a:xfrm>
            <a:off x="8366760" y="18470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doi.org/10.1109/ICASSP.2015.7178964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225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2322576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Vaswani et al., "Attention is all you need," NeurIPS, 2017.</a:t>
            </a:r>
            <a:endParaRPr lang="en-US" sz="1100" dirty="0"/>
          </a:p>
        </p:txBody>
      </p:sp>
      <p:sp>
        <p:nvSpPr>
          <p:cNvPr id="13" name="Text 11">
            <a:hlinkClick r:id="rId3" tooltip=""/>
          </p:cNvPr>
          <p:cNvSpPr txBox="1"/>
          <p:nvPr/>
        </p:nvSpPr>
        <p:spPr>
          <a:xfrm>
            <a:off x="8366760" y="23225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doi.org/10.48550/arXiv.1706.03762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7980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798064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Chan et al., "Listen, attend and spell," ICASSP, pp. 4960-4964, 2016.</a:t>
            </a:r>
            <a:endParaRPr lang="en-US" sz="1100" dirty="0"/>
          </a:p>
        </p:txBody>
      </p:sp>
      <p:sp>
        <p:nvSpPr>
          <p:cNvPr id="16" name="Text 14">
            <a:hlinkClick r:id="rId4" tooltip=""/>
          </p:cNvPr>
          <p:cNvSpPr txBox="1"/>
          <p:nvPr/>
        </p:nvSpPr>
        <p:spPr>
          <a:xfrm>
            <a:off x="8366760" y="279806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doi.org/10.1109/ICASSP.2016.7472621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2735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27355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Gulati et al., "Conformer: Convolution-augmented transformer for speech recognition," Interspeech, 2020.</a:t>
            </a:r>
            <a:endParaRPr lang="en-US" sz="1100" dirty="0"/>
          </a:p>
        </p:txBody>
      </p:sp>
      <p:sp>
        <p:nvSpPr>
          <p:cNvPr id="19" name="Text 17">
            <a:hlinkClick r:id="rId5" tooltip=""/>
          </p:cNvPr>
          <p:cNvSpPr txBox="1"/>
          <p:nvPr/>
        </p:nvSpPr>
        <p:spPr>
          <a:xfrm>
            <a:off x="8366760" y="32735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doi.org/10.21437/Interspeech.2020-3015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7490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374904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Gong et al., "Whisper-AT: Noise-robust ASR are also strong audio event taggers," Interspeech, 2023.</a:t>
            </a:r>
            <a:endParaRPr lang="en-US" sz="1100" dirty="0"/>
          </a:p>
        </p:txBody>
      </p:sp>
      <p:sp>
        <p:nvSpPr>
          <p:cNvPr id="22" name="Text 20">
            <a:hlinkClick r:id="rId6" tooltip=""/>
          </p:cNvPr>
          <p:cNvSpPr txBox="1"/>
          <p:nvPr/>
        </p:nvSpPr>
        <p:spPr>
          <a:xfrm>
            <a:off x="8366760" y="37490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doi.org/10.21437/Interspeech.2023-2193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224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42245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A. Shah et al., "Speech Robust Bench: A robustness benchmark for ASR," arXiv:2403.07937, 2024.</a:t>
            </a:r>
            <a:endParaRPr lang="en-US" sz="1100" dirty="0"/>
          </a:p>
        </p:txBody>
      </p:sp>
      <p:sp>
        <p:nvSpPr>
          <p:cNvPr id="25" name="Text 23">
            <a:hlinkClick r:id="rId7" tooltip=""/>
          </p:cNvPr>
          <p:cNvSpPr txBox="1"/>
          <p:nvPr/>
        </p:nvSpPr>
        <p:spPr>
          <a:xfrm>
            <a:off x="8366760" y="422452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doi.org/10.48550/arXiv.2403.07937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7000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4700016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Cornell et al., "The CHiME-7 DASR challenge," arXiv:2306.13734, 2023.</a:t>
            </a:r>
            <a:endParaRPr lang="en-US" sz="1100" dirty="0"/>
          </a:p>
        </p:txBody>
      </p:sp>
      <p:sp>
        <p:nvSpPr>
          <p:cNvPr id="28" name="Text 26">
            <a:hlinkClick r:id="rId8" tooltip=""/>
          </p:cNvPr>
          <p:cNvSpPr txBox="1"/>
          <p:nvPr/>
        </p:nvSpPr>
        <p:spPr>
          <a:xfrm>
            <a:off x="8366760" y="47000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doi.org/10.48550/arXiv.2306.13734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51755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5175504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Barker et al., "The third CHiME speech separation and recognition challenge," ASRU, 2015.</a:t>
            </a:r>
            <a:endParaRPr lang="en-US" sz="1100" dirty="0"/>
          </a:p>
        </p:txBody>
      </p:sp>
      <p:sp>
        <p:nvSpPr>
          <p:cNvPr id="31" name="Text 29">
            <a:hlinkClick r:id="rId9" tooltip=""/>
          </p:cNvPr>
          <p:cNvSpPr txBox="1"/>
          <p:nvPr/>
        </p:nvSpPr>
        <p:spPr>
          <a:xfrm>
            <a:off x="8366760" y="51755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doi.org/10.1109/ASRU.2015.7404837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6509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" y="565099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S. Park et al., "SpecAugment: A simple data augmentation method for ASR," Interspeech, 2019.</a:t>
            </a:r>
            <a:endParaRPr lang="en-US" sz="1100" dirty="0"/>
          </a:p>
        </p:txBody>
      </p:sp>
      <p:sp>
        <p:nvSpPr>
          <p:cNvPr id="34" name="Text 32">
            <a:hlinkClick r:id="rId10" tooltip=""/>
          </p:cNvPr>
          <p:cNvSpPr txBox="1"/>
          <p:nvPr/>
        </p:nvSpPr>
        <p:spPr>
          <a:xfrm>
            <a:off x="8366760" y="56509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doi.org/10.21437/Interspeech.2019-2680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(2 of 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style; every entry carries a resolvable DOI link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28832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716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37160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S. Brungart, "Informational and energetic masking effects in the perception of two simultaneous talkers," JASA, vol. 109, 2001.</a:t>
            </a:r>
            <a:endParaRPr lang="en-US" sz="1100" dirty="0"/>
          </a:p>
        </p:txBody>
      </p:sp>
      <p:sp>
        <p:nvSpPr>
          <p:cNvPr id="7" name="Text 5">
            <a:hlinkClick r:id="rId1" tooltip=""/>
          </p:cNvPr>
          <p:cNvSpPr txBox="1"/>
          <p:nvPr/>
        </p:nvSpPr>
        <p:spPr>
          <a:xfrm>
            <a:off x="8366760" y="13716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doi.org/10.1121/1.1345696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8470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8470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Cooke, "A glimpsing model of speech perception in noise," JASA, vol. 119, 2006.</a:t>
            </a:r>
            <a:endParaRPr lang="en-US" sz="1100" dirty="0"/>
          </a:p>
        </p:txBody>
      </p:sp>
      <p:sp>
        <p:nvSpPr>
          <p:cNvPr id="10" name="Text 8">
            <a:hlinkClick r:id="rId2" tooltip=""/>
          </p:cNvPr>
          <p:cNvSpPr txBox="1"/>
          <p:nvPr/>
        </p:nvSpPr>
        <p:spPr>
          <a:xfrm>
            <a:off x="8366760" y="18470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doi.org/10.1121/1.2166600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225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2322576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M. Festen and R. Plomp, "Effects of fluctuating noise and interfering speech on the speech-reception threshold," JASA, vol. 88, 1990.</a:t>
            </a:r>
            <a:endParaRPr lang="en-US" sz="1100" dirty="0"/>
          </a:p>
        </p:txBody>
      </p:sp>
      <p:sp>
        <p:nvSpPr>
          <p:cNvPr id="13" name="Text 11">
            <a:hlinkClick r:id="rId3" tooltip=""/>
          </p:cNvPr>
          <p:cNvSpPr txBox="1"/>
          <p:nvPr/>
        </p:nvSpPr>
        <p:spPr>
          <a:xfrm>
            <a:off x="8366760" y="23225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doi.org/10.1121/1.400247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7980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798064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Varga and H. J. M. Steeneken, "Assessment for ASR: NOISEX-92," Speech Communication, vol. 12, 1993.</a:t>
            </a:r>
            <a:endParaRPr lang="en-US" sz="1100" dirty="0"/>
          </a:p>
        </p:txBody>
      </p:sp>
      <p:sp>
        <p:nvSpPr>
          <p:cNvPr id="16" name="Text 14">
            <a:hlinkClick r:id="rId4" tooltip=""/>
          </p:cNvPr>
          <p:cNvSpPr txBox="1"/>
          <p:nvPr/>
        </p:nvSpPr>
        <p:spPr>
          <a:xfrm>
            <a:off x="8366760" y="279806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doi.org/10.1016/0167-6393(93)90095-3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2735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27355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Snyder et al., "MUSAN: A music, speech, and noise corpus," arXiv:1510.08484, 2015.</a:t>
            </a:r>
            <a:endParaRPr lang="en-US" sz="1100" dirty="0"/>
          </a:p>
        </p:txBody>
      </p:sp>
      <p:sp>
        <p:nvSpPr>
          <p:cNvPr id="19" name="Text 17">
            <a:hlinkClick r:id="rId5" tooltip=""/>
          </p:cNvPr>
          <p:cNvSpPr txBox="1"/>
          <p:nvPr/>
        </p:nvSpPr>
        <p:spPr>
          <a:xfrm>
            <a:off x="8366760" y="32735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doi.org/10.48550/arXiv.1510.08484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7490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374904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Davis and P. Mermelstein, "Comparison of parametric representations for monosyllabic word recognition," IEEE TASSP, vol. 28, 1980.</a:t>
            </a:r>
            <a:endParaRPr lang="en-US" sz="1100" dirty="0"/>
          </a:p>
        </p:txBody>
      </p:sp>
      <p:sp>
        <p:nvSpPr>
          <p:cNvPr id="22" name="Text 20">
            <a:hlinkClick r:id="rId6" tooltip=""/>
          </p:cNvPr>
          <p:cNvSpPr txBox="1"/>
          <p:nvPr/>
        </p:nvSpPr>
        <p:spPr>
          <a:xfrm>
            <a:off x="8366760" y="37490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doi.org/10.1109/TASSP.1980.1163420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224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42245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Laroche and M. Dolson, "Improved phase vocoder time-scale modification of audio," IEEE TSAP, vol. 7, 1999.</a:t>
            </a:r>
            <a:endParaRPr lang="en-US" sz="1100" dirty="0"/>
          </a:p>
        </p:txBody>
      </p:sp>
      <p:sp>
        <p:nvSpPr>
          <p:cNvPr id="25" name="Text 23">
            <a:hlinkClick r:id="rId7" tooltip=""/>
          </p:cNvPr>
          <p:cNvSpPr txBox="1"/>
          <p:nvPr/>
        </p:nvSpPr>
        <p:spPr>
          <a:xfrm>
            <a:off x="8366760" y="422452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doi.org/10.1109/89.759041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7000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4700016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Ko et al., "A study on data augmentation of reverberant speech for robust speech recognition," ICASSP, 2017.</a:t>
            </a:r>
            <a:endParaRPr lang="en-US" sz="1100" dirty="0"/>
          </a:p>
        </p:txBody>
      </p:sp>
      <p:sp>
        <p:nvSpPr>
          <p:cNvPr id="28" name="Text 26">
            <a:hlinkClick r:id="rId8" tooltip=""/>
          </p:cNvPr>
          <p:cNvSpPr txBox="1"/>
          <p:nvPr/>
        </p:nvSpPr>
        <p:spPr>
          <a:xfrm>
            <a:off x="8366760" y="47000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doi.org/10.1109/ICASSP.2017.7953152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51755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5175504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Baevski et al., "wav2vec 2.0: A framework for self-supervised learning of speech representations," NeurIPS, 2020.</a:t>
            </a:r>
            <a:endParaRPr lang="en-US" sz="1100" dirty="0"/>
          </a:p>
        </p:txBody>
      </p:sp>
      <p:sp>
        <p:nvSpPr>
          <p:cNvPr id="31" name="Text 29">
            <a:hlinkClick r:id="rId9" tooltip=""/>
          </p:cNvPr>
          <p:cNvSpPr txBox="1"/>
          <p:nvPr/>
        </p:nvSpPr>
        <p:spPr>
          <a:xfrm>
            <a:off x="8366760" y="51755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doi.org/10.48550/arXiv.2006.11477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ASR Failures under Controlled Acoustic Conditions</dc:title>
  <dc:subject>PptxGenJS Presentation</dc:subject>
  <dc:creator>Team B5</dc:creator>
  <cp:lastModifiedBy>Team B5</cp:lastModifiedBy>
  <cp:revision>1</cp:revision>
  <dcterms:created xsi:type="dcterms:W3CDTF">2026-09-29T11:00:35Z</dcterms:created>
  <dcterms:modified xsi:type="dcterms:W3CDTF">2026-09-29T11:00:35Z</dcterms:modified>
</cp:coreProperties>
</file>